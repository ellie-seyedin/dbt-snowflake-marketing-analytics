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Example: Top campaigns by CTR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CTR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Campaign A</c:v>
                </c:pt>
                <c:pt idx="1">
                  <c:v>Campaign B</c:v>
                </c:pt>
                <c:pt idx="2">
                  <c:v>Campaign C</c:v>
                </c:pt>
                <c:pt idx="3">
                  <c:v>Campaign D</c:v>
                </c:pt>
                <c:pt idx="4">
                  <c:v>Campaign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0.08</c:v>
                </c:pt>
                <c:pt idx="2">
                  <c:v>0.06</c:v>
                </c:pt>
                <c:pt idx="3">
                  <c:v>0.045</c:v>
                </c:pt>
                <c:pt idx="4">
                  <c:v>0.03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164592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961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3E6C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731"/>
                </a:solidFill>
              </a:defRPr>
            </a:pPr>
            <a:r>
              <a:t>Mini data warehouse project: seed -&gt; staging -&gt; dim/fct -&gt; mart -&gt; 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2743200" cy="1097280"/>
          </a:xfrm>
          <a:prstGeom prst="roundRect">
            <a:avLst/>
          </a:prstGeom>
          <a:solidFill>
            <a:srgbClr val="E8F1FC"/>
          </a:solidFill>
          <a:ln>
            <a:solidFill>
              <a:srgbClr val="D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53E6C"/>
                </a:solidFill>
              </a:defRPr>
            </a:pPr>
            <a:r>
              <a:t>CSV Seed + Snowflake Raw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703320"/>
            <a:ext cx="2743200" cy="1097280"/>
          </a:xfrm>
          <a:prstGeom prst="roundRect">
            <a:avLst/>
          </a:prstGeom>
          <a:solidFill>
            <a:srgbClr val="E8F1FC"/>
          </a:solidFill>
          <a:ln>
            <a:solidFill>
              <a:srgbClr val="D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93192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53E6C"/>
                </a:solidFill>
              </a:defRPr>
            </a:pPr>
            <a:r>
              <a:t>dbt Transformations +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03320"/>
            <a:ext cx="2743200" cy="1097280"/>
          </a:xfrm>
          <a:prstGeom prst="roundRect">
            <a:avLst/>
          </a:prstGeom>
          <a:solidFill>
            <a:srgbClr val="EBF8EE"/>
          </a:solidFill>
          <a:ln>
            <a:solidFill>
              <a:srgbClr val="D1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393192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53E6C"/>
                </a:solidFill>
              </a:defRPr>
            </a:pPr>
            <a:r>
              <a:t>Analytics Mart + Snapshot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4251960"/>
            <a:ext cx="868680" cy="0"/>
          </a:xfrm>
          <a:prstGeom prst="line">
            <a:avLst/>
          </a:prstGeom>
          <a:ln w="2540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5160" y="4251960"/>
            <a:ext cx="868680" cy="0"/>
          </a:xfrm>
          <a:prstGeom prst="line">
            <a:avLst/>
          </a:prstGeom>
          <a:ln w="2540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5715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26C7A"/>
                </a:solidFill>
              </a:defRPr>
            </a:pPr>
            <a:r>
              <a:t>Focus: practical dbt concepts (ref, source, materialization, schema tests, singular tests, macros, snapshots)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and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65836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731"/>
                </a:solidFill>
              </a:defRPr>
            </a:pPr>
            <a:r>
              <a:t>Raw ad CSV is useful, but not analytics-ready.</a:t>
            </a:r>
          </a:p>
          <a:p>
            <a:pPr>
              <a:spcAft>
                <a:spcPts val="800"/>
              </a:spcAft>
              <a:defRPr sz="1900">
                <a:solidFill>
                  <a:srgbClr val="202731"/>
                </a:solidFill>
              </a:defRPr>
            </a:pPr>
            <a:r>
              <a:t>Need reliable transformations and reusable KPIs (CTR, CPC).</a:t>
            </a:r>
          </a:p>
          <a:p>
            <a:pPr>
              <a:spcAft>
                <a:spcPts val="800"/>
              </a:spcAft>
              <a:defRPr sz="1900">
                <a:solidFill>
                  <a:srgbClr val="202731"/>
                </a:solidFill>
              </a:defRPr>
            </a:pPr>
            <a:r>
              <a:t>Need data quality checks so bad rows are caught early.</a:t>
            </a:r>
          </a:p>
          <a:p>
            <a:pPr>
              <a:spcAft>
                <a:spcPts val="800"/>
              </a:spcAft>
              <a:defRPr sz="1900">
                <a:solidFill>
                  <a:srgbClr val="202731"/>
                </a:solidFill>
              </a:defRPr>
            </a:pPr>
            <a:r>
              <a:t>Need business-ready outputs (campaign summaries) for dashboards.</a:t>
            </a:r>
          </a:p>
          <a:p>
            <a:pPr>
              <a:spcAft>
                <a:spcPts val="800"/>
              </a:spcAft>
              <a:defRPr sz="1900">
                <a:solidFill>
                  <a:srgbClr val="202731"/>
                </a:solidFill>
              </a:defRPr>
            </a:pPr>
            <a:r>
              <a:t>Need row history tracking to demonstrate data change management (snapshot).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25880"/>
            <a:ext cx="3840480" cy="3383280"/>
          </a:xfrm>
          <a:prstGeom prst="roundRect">
            <a:avLst/>
          </a:prstGeom>
          <a:solidFill>
            <a:srgbClr val="E8F1FC"/>
          </a:solidFill>
          <a:ln>
            <a:solidFill>
              <a:srgbClr val="D2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14173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Project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09928"/>
            <a:ext cx="3474720" cy="2862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Warehouse: Snowflake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Transformation layer: dbt Core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Input: CSV seed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Outputs: dim, fact, mart, snapshot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2468880" cy="1417320"/>
          </a:xfrm>
          <a:prstGeom prst="roundRect">
            <a:avLst/>
          </a:prstGeom>
          <a:solidFill>
            <a:srgbClr val="E8F1FC"/>
          </a:solidFill>
          <a:ln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2240280"/>
            <a:ext cx="221284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53E6C"/>
                </a:solidFill>
              </a:defRPr>
            </a:pPr>
            <a:r>
              <a:t>CSV seed (data.csv)</a:t>
            </a:r>
          </a:p>
          <a:p>
            <a:pPr algn="ctr">
              <a:defRPr sz="1400" b="0">
                <a:solidFill>
                  <a:srgbClr val="202731"/>
                </a:solidFill>
              </a:defRPr>
            </a:pPr>
            <a:r>
              <a:t>seeds/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720340"/>
            <a:ext cx="137160" cy="0"/>
          </a:xfrm>
          <a:prstGeom prst="line">
            <a:avLst/>
          </a:prstGeom>
          <a:ln w="2540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011680"/>
            <a:ext cx="2468880" cy="1417320"/>
          </a:xfrm>
          <a:prstGeom prst="roundRect">
            <a:avLst/>
          </a:prstGeom>
          <a:solidFill>
            <a:srgbClr val="E8F1FC"/>
          </a:solidFill>
          <a:ln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9816" y="2240280"/>
            <a:ext cx="221284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53E6C"/>
                </a:solidFill>
              </a:defRPr>
            </a:pPr>
            <a:r>
              <a:t>Snowflake raw table</a:t>
            </a:r>
          </a:p>
          <a:p>
            <a:pPr algn="ctr">
              <a:defRPr sz="1400" b="0">
                <a:solidFill>
                  <a:srgbClr val="202731"/>
                </a:solidFill>
              </a:defRPr>
            </a:pPr>
            <a:r>
              <a:t>ANALYTICS_RAW.DATA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40680" y="2720340"/>
            <a:ext cx="137160" cy="0"/>
          </a:xfrm>
          <a:prstGeom prst="line">
            <a:avLst/>
          </a:prstGeom>
          <a:ln w="2540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77840" y="2011680"/>
            <a:ext cx="2468880" cy="1417320"/>
          </a:xfrm>
          <a:prstGeom prst="roundRect">
            <a:avLst/>
          </a:prstGeom>
          <a:solidFill>
            <a:srgbClr val="E8F1FC"/>
          </a:solidFill>
          <a:ln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2240280"/>
            <a:ext cx="221284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53E6C"/>
                </a:solidFill>
              </a:defRPr>
            </a:pPr>
            <a:r>
              <a:t>dbt models</a:t>
            </a:r>
          </a:p>
          <a:p>
            <a:pPr algn="ctr">
              <a:defRPr sz="1400" b="0">
                <a:solidFill>
                  <a:srgbClr val="202731"/>
                </a:solidFill>
              </a:defRPr>
            </a:pPr>
            <a:r>
              <a:t>stg/dim/fct/mart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46720" y="2720340"/>
            <a:ext cx="137159" cy="0"/>
          </a:xfrm>
          <a:prstGeom prst="line">
            <a:avLst/>
          </a:prstGeom>
          <a:ln w="2540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79" y="2011680"/>
            <a:ext cx="3566160" cy="1417320"/>
          </a:xfrm>
          <a:prstGeom prst="roundRect">
            <a:avLst/>
          </a:prstGeom>
          <a:solidFill>
            <a:srgbClr val="ECF8EF"/>
          </a:solidFill>
          <a:ln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5" y="2240280"/>
            <a:ext cx="331012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53E6C"/>
                </a:solidFill>
              </a:defRPr>
            </a:pPr>
            <a:r>
              <a:t>Reporting + audits</a:t>
            </a:r>
          </a:p>
          <a:p>
            <a:pPr algn="ctr">
              <a:defRPr sz="1400" b="0">
                <a:solidFill>
                  <a:srgbClr val="202731"/>
                </a:solidFill>
              </a:defRPr>
            </a:pPr>
            <a:r>
              <a:t>mart + snapshot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69080"/>
            <a:ext cx="10972800" cy="1828800"/>
          </a:xfrm>
          <a:prstGeom prst="roundRect">
            <a:avLst/>
          </a:prstGeom>
          <a:solidFill>
            <a:srgbClr val="E8F1FC"/>
          </a:solidFill>
          <a:ln>
            <a:solidFill>
              <a:srgbClr val="D2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Execution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53128"/>
            <a:ext cx="10607040" cy="1307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Database: ADS_ANALYTICS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Typical schemas used: ANALYTICS_RAW, ANALYTICS, ANALYTICS_SNAPSHOTS (or SNAPSHOTS)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dbt commands used across workflow: seed, run, test, snapshot, docs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623560" cy="4206240"/>
          </a:xfrm>
          <a:prstGeom prst="roundRect">
            <a:avLst/>
          </a:prstGeom>
          <a:solidFill>
            <a:srgbClr val="E8F1FC"/>
          </a:solidFill>
          <a:ln>
            <a:solidFill>
              <a:srgbClr val="D2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Raw CSV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5257800" cy="3685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Identifiers: ad_id, campaign_id, fb_campaign_id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Audience attributes: age, gender, interest1/2/3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Metrics: impressions, clicks, spent, total_conversion, approved_conversion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Business dates: reporting_start, reporting_end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Source date format: DD/MM/YYYY (e.g., 30/08/2017)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234440"/>
            <a:ext cx="5120640" cy="420624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E6C"/>
                </a:solidFill>
              </a:defRPr>
            </a:pPr>
            <a:r>
              <a:t>Example record (first CSV row)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709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202731"/>
                </a:solidFill>
                <a:latin typeface="Consolas"/>
              </a:defRPr>
            </a:pPr>
            <a:r>
              <a:t>ad_id=708746</a:t>
            </a:r>
          </a:p>
          <a:p>
            <a:pPr>
              <a:spcAft>
                <a:spcPts val="200"/>
              </a:spcAft>
              <a:defRPr sz="1250">
                <a:solidFill>
                  <a:srgbClr val="202731"/>
                </a:solidFill>
                <a:latin typeface="Consolas"/>
              </a:defRPr>
            </a:pPr>
            <a:r>
              <a:t>reporting_start=17/08/2017</a:t>
            </a:r>
          </a:p>
          <a:p>
            <a:pPr>
              <a:spcAft>
                <a:spcPts val="200"/>
              </a:spcAft>
              <a:defRPr sz="1250">
                <a:solidFill>
                  <a:srgbClr val="202731"/>
                </a:solidFill>
                <a:latin typeface="Consolas"/>
              </a:defRPr>
            </a:pPr>
            <a:r>
              <a:t>reporting_end=17/08/2017</a:t>
            </a:r>
          </a:p>
          <a:p>
            <a:pPr>
              <a:spcAft>
                <a:spcPts val="200"/>
              </a:spcAft>
              <a:defRPr sz="1250">
                <a:solidFill>
                  <a:srgbClr val="202731"/>
                </a:solidFill>
                <a:latin typeface="Consolas"/>
              </a:defRPr>
            </a:pPr>
            <a:r>
              <a:t>campaign_id=916 | fb_campaign_id=103916</a:t>
            </a:r>
          </a:p>
          <a:p>
            <a:pPr>
              <a:spcAft>
                <a:spcPts val="200"/>
              </a:spcAft>
              <a:defRPr sz="1250">
                <a:solidFill>
                  <a:srgbClr val="202731"/>
                </a:solidFill>
                <a:latin typeface="Consolas"/>
              </a:defRPr>
            </a:pPr>
            <a:r>
              <a:t>age=30-34 | gender=M</a:t>
            </a:r>
          </a:p>
          <a:p>
            <a:pPr>
              <a:spcAft>
                <a:spcPts val="200"/>
              </a:spcAft>
              <a:defRPr sz="1250">
                <a:solidFill>
                  <a:srgbClr val="202731"/>
                </a:solidFill>
                <a:latin typeface="Consolas"/>
              </a:defRPr>
            </a:pPr>
            <a:r>
              <a:t>interest1=15, interest2=17, interest3=17</a:t>
            </a:r>
          </a:p>
          <a:p>
            <a:pPr>
              <a:spcAft>
                <a:spcPts val="200"/>
              </a:spcAft>
              <a:defRPr sz="1250">
                <a:solidFill>
                  <a:srgbClr val="202731"/>
                </a:solidFill>
                <a:latin typeface="Consolas"/>
              </a:defRPr>
            </a:pPr>
            <a:r>
              <a:t>impressions=7350 | clicks=1 | spent=1.43</a:t>
            </a:r>
          </a:p>
          <a:p>
            <a:pPr>
              <a:spcAft>
                <a:spcPts val="200"/>
              </a:spcAft>
              <a:defRPr sz="1250">
                <a:solidFill>
                  <a:srgbClr val="202731"/>
                </a:solidFill>
                <a:latin typeface="Consolas"/>
              </a:defRPr>
            </a:pPr>
            <a:r>
              <a:t>total_conversion=2 | approved_conversion=1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dbt 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658368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612648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ads_analytics/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seeds/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  data.csv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models/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  staging/  (stg_ads.sql, sources.yml, schema.yml)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  dim/      (dim_ads.sql)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  fct/      (fct_ads_performance.sql)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  marts/    (mart_campaign_summary.sql)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snapshots/  (snap_ads.sql)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tests/      (custom SQL tests)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macros/     (no_nulls_in_columns.sql)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packages.yml</a:t>
            </a:r>
          </a:p>
          <a:p>
            <a:pPr>
              <a:spcAft>
                <a:spcPts val="200"/>
              </a:spcAft>
              <a:defRPr sz="1400">
                <a:solidFill>
                  <a:srgbClr val="202731"/>
                </a:solidFill>
                <a:latin typeface="Consolas"/>
              </a:defRPr>
            </a:pPr>
            <a:r>
              <a:t>  dbt_project.yml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280160"/>
            <a:ext cx="4069080" cy="4434840"/>
          </a:xfrm>
          <a:prstGeom prst="roundRect">
            <a:avLst/>
          </a:prstGeom>
          <a:solidFill>
            <a:srgbClr val="E8F1FC"/>
          </a:solidFill>
          <a:ln>
            <a:solidFill>
              <a:srgbClr val="D2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371600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64208"/>
            <a:ext cx="3703320" cy="3913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Layered structure makes debugging much easier.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Model names show intent (stg_, dim_, fct_, mart_).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YAML stores tests + descriptions, not SQL transformations.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snapshots/ and tests/ are separate from model 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Modeling Layers and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972800" cy="91440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118872" cy="91440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441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02731"/>
                </a:solidFill>
              </a:defRPr>
            </a:pPr>
            <a:r>
              <a:t>Staging (stg_ads)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335024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731"/>
                </a:solidFill>
              </a:defRPr>
            </a:pPr>
            <a:r>
              <a:t>Light cleanup and column selection. Stable interface for downstream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68880"/>
            <a:ext cx="10972800" cy="91440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468880"/>
            <a:ext cx="118872" cy="914400"/>
          </a:xfrm>
          <a:prstGeom prst="rect">
            <a:avLst/>
          </a:prstGeom>
          <a:solidFill>
            <a:srgbClr val="27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7860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02731"/>
                </a:solidFill>
              </a:defRPr>
            </a:pPr>
            <a:r>
              <a:t>Dimension (dim_ads)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9464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731"/>
                </a:solidFill>
              </a:defRPr>
            </a:pPr>
            <a:r>
              <a:t>Descriptive ad/audience attributes for joins and documentation.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10972800" cy="91440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03320"/>
            <a:ext cx="118872" cy="9144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02731"/>
                </a:solidFill>
              </a:defRPr>
            </a:pPr>
            <a:r>
              <a:t>Fact (fct_ads_performance)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03904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731"/>
                </a:solidFill>
              </a:defRPr>
            </a:pPr>
            <a:r>
              <a:t>Measures + KPIs: impressions, clicks, spent, ctr, cpc.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37760"/>
            <a:ext cx="10972800" cy="91440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937760"/>
            <a:ext cx="118872" cy="9144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474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202731"/>
                </a:solidFill>
              </a:defRPr>
            </a:pPr>
            <a:r>
              <a:t>Mart (mart_campaign_summary)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038344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02731"/>
                </a:solidFill>
              </a:defRPr>
            </a:pPr>
            <a:r>
              <a:t>Business-facing aggregated output for reporting/dashboards.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Fact Table KPIs (fct_ads_performance)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268980" cy="212598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212598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35608"/>
            <a:ext cx="29946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CTR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64792"/>
            <a:ext cx="2994660" cy="1623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Click-through rate = clicks / impressions</a:t>
            </a:r>
            <a:br/>
            <a:r>
              <a:t>Null-safe when impressions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7660" y="1325880"/>
            <a:ext cx="3268980" cy="212598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7660" y="1325880"/>
            <a:ext cx="109728" cy="2125980"/>
          </a:xfrm>
          <a:prstGeom prst="rect">
            <a:avLst/>
          </a:prstGeom>
          <a:solidFill>
            <a:srgbClr val="27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8828" y="1435608"/>
            <a:ext cx="29946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CPC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828" y="1764792"/>
            <a:ext cx="2994660" cy="1623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Cost per click = spent / clicks</a:t>
            </a:r>
            <a:br/>
            <a:r>
              <a:t>Null-safe when clicks =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4740"/>
            <a:ext cx="3268980" cy="212598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634740"/>
            <a:ext cx="109728" cy="21259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44468"/>
            <a:ext cx="29946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73652"/>
            <a:ext cx="2994660" cy="1623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Can exclude rows with zero/invalid impressions using coalesce(impressions,0) &gt;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7660" y="3634740"/>
            <a:ext cx="3268980" cy="212598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37660" y="3634740"/>
            <a:ext cx="109728" cy="212598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8828" y="3744468"/>
            <a:ext cx="29946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Materialization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828" y="4073652"/>
            <a:ext cx="2994660" cy="1623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Start with table; later upgrade to incremental for larger datasets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325880"/>
            <a:ext cx="3977639" cy="443484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148132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E6C"/>
                </a:solidFill>
              </a:defRPr>
            </a:pPr>
            <a:r>
              <a:t>Example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1783080"/>
            <a:ext cx="34747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ad_id,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impressions,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clicks,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spent,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case when impressions &gt; 0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     then round(clicks / impressions, 6)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end as ctr,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case when clicks &gt; 0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     then round(spent / clicks, 4)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  end as cpc</a:t>
            </a:r>
          </a:p>
          <a:p>
            <a:pPr>
              <a:spcAft>
                <a:spcPts val="0"/>
              </a:spcAft>
              <a:defRPr sz="1150">
                <a:solidFill>
                  <a:srgbClr val="202731"/>
                </a:solidFill>
                <a:latin typeface="Consolas"/>
              </a:defRPr>
            </a:pPr>
            <a:r>
              <a:t>from {{ ref('stg_ads')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Mart Layer (Business-ready Output)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852160" cy="2148840"/>
          </a:xfrm>
          <a:prstGeom prst="roundRect">
            <a:avLst/>
          </a:prstGeom>
          <a:solidFill>
            <a:srgbClr val="E8F1FC"/>
          </a:solidFill>
          <a:ln>
            <a:solidFill>
              <a:srgbClr val="D2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What is a mart?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5486400" cy="1627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Mart aggregates facts into a reporting-friendly shape.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Example mart: campaign-level summary (totals + CTR/CPC).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This is the table a BI dashboard should query first.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22960" y="3611880"/>
          <a:ext cx="56692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720840" y="1234440"/>
            <a:ext cx="4892040" cy="438912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41732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53E6C"/>
                </a:solidFill>
              </a:defRPr>
            </a:pPr>
            <a:r>
              <a:t>Typical mart_campaign_summary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78308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campaign_id - Campaign identifier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258568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impressions - Total impressions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734056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clicks - Total clicks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09544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spent - Total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685031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ctr - Aggregated click-through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160519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cpc - Aggregated cost per click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Testing Strategy in dbt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486400" cy="4480560"/>
          </a:xfrm>
          <a:prstGeom prst="roundRect">
            <a:avLst/>
          </a:prstGeom>
          <a:solidFill>
            <a:srgbClr val="E8F1FC"/>
          </a:solidFill>
          <a:ln>
            <a:solidFill>
              <a:srgbClr val="D2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Core testing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5120640" cy="3959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Schema tests in schema.yml: not_null, relationships, accepted_values (optional)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Singular SQL tests in tests/: query returns zero rows when data is valid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Examples: ctr between 0 and 1, no negative metrics, approved_conversion &lt;= total_conversion</a:t>
            </a:r>
          </a:p>
          <a:p>
            <a:pPr>
              <a:spcAft>
                <a:spcPts val="600"/>
              </a:spcAft>
              <a:defRPr sz="1600">
                <a:solidFill>
                  <a:srgbClr val="202731"/>
                </a:solidFill>
              </a:defRPr>
            </a:pPr>
            <a:r>
              <a:t>Run with dbt test (or dbt build for combined run+test)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5257800" cy="448056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53E6C"/>
                </a:solidFill>
              </a:defRPr>
            </a:pPr>
            <a:r>
              <a:t>Example singular test (ctr_range_test.sql)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783080"/>
            <a:ext cx="4709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2731"/>
                </a:solidFill>
                <a:latin typeface="Consolas"/>
              </a:defRPr>
            </a:pPr>
            <a:r>
              <a:t>select *</a:t>
            </a:r>
          </a:p>
          <a:p>
            <a:pPr>
              <a:defRPr sz="1200">
                <a:solidFill>
                  <a:srgbClr val="202731"/>
                </a:solidFill>
                <a:latin typeface="Consolas"/>
              </a:defRPr>
            </a:pPr>
            <a:r>
              <a:t>from {{ ref('fct_ads_performance') }}</a:t>
            </a:r>
          </a:p>
          <a:p>
            <a:pPr>
              <a:defRPr sz="1200">
                <a:solidFill>
                  <a:srgbClr val="202731"/>
                </a:solidFill>
                <a:latin typeface="Consolas"/>
              </a:defRPr>
            </a:pPr>
            <a:r>
              <a:t>where ctr is not null</a:t>
            </a:r>
          </a:p>
          <a:p>
            <a:pPr>
              <a:defRPr sz="1200">
                <a:solidFill>
                  <a:srgbClr val="202731"/>
                </a:solidFill>
                <a:latin typeface="Consolas"/>
              </a:defRPr>
            </a:pPr>
            <a:r>
              <a:t>  and (ctr &lt; 0 or ctr &gt;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52044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02731"/>
                </a:solidFill>
              </a:defRPr>
            </a:pPr>
            <a:r>
              <a:t>Pass condition: 0 rows returned</a:t>
            </a:r>
          </a:p>
          <a:p>
            <a:pPr>
              <a:defRPr sz="1350">
                <a:solidFill>
                  <a:srgbClr val="202731"/>
                </a:solidFill>
              </a:defRPr>
            </a:pPr>
            <a:r>
              <a:t>Fail condition: offending rows are returned and visible</a:t>
            </a:r>
          </a:p>
          <a:p>
            <a:pPr>
              <a:defRPr sz="1350">
                <a:solidFill>
                  <a:srgbClr val="202731"/>
                </a:solidFill>
              </a:defRPr>
            </a:pPr>
            <a:r>
              <a:t>Practical benefit: catches data quality issues before dashboards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Snapshots (History Tracking)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669280" cy="461772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E6C"/>
                </a:solidFill>
              </a:defRPr>
            </a:pPr>
            <a:r>
              <a:t>Snapshot design for ads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83080"/>
            <a:ext cx="52578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02731"/>
                </a:solidFill>
              </a:defRPr>
            </a:pPr>
            <a:r>
              <a:t>Use strategy='check' (no reliable updated_at column in source)</a:t>
            </a:r>
          </a:p>
          <a:p>
            <a:pPr>
              <a:spcAft>
                <a:spcPts val="800"/>
              </a:spcAft>
              <a:defRPr sz="1450">
                <a:solidFill>
                  <a:srgbClr val="202731"/>
                </a:solidFill>
              </a:defRPr>
            </a:pPr>
            <a:r>
              <a:t>Generate surrogate key row_key from business key columns</a:t>
            </a:r>
          </a:p>
          <a:p>
            <a:pPr>
              <a:spcAft>
                <a:spcPts val="800"/>
              </a:spcAft>
              <a:defRPr sz="1450">
                <a:solidFill>
                  <a:srgbClr val="202731"/>
                </a:solidFill>
              </a:defRPr>
            </a:pPr>
            <a:r>
              <a:t>Monitor metric columns: impressions, clicks, spent, conversions</a:t>
            </a:r>
          </a:p>
          <a:p>
            <a:pPr>
              <a:spcAft>
                <a:spcPts val="800"/>
              </a:spcAft>
              <a:defRPr sz="1450">
                <a:solidFill>
                  <a:srgbClr val="202731"/>
                </a:solidFill>
              </a:defRPr>
            </a:pPr>
            <a:r>
              <a:t>dbt adds metadata columns: dbt_valid_from, dbt_valid_to, dbt_updated_at</a:t>
            </a:r>
          </a:p>
        </p:txBody>
      </p:sp>
      <p:sp>
        <p:nvSpPr>
          <p:cNvPr id="11" name="Oval 10"/>
          <p:cNvSpPr/>
          <p:nvPr/>
        </p:nvSpPr>
        <p:spPr>
          <a:xfrm>
            <a:off x="6720840" y="1417320"/>
            <a:ext cx="411480" cy="411480"/>
          </a:xfrm>
          <a:prstGeom prst="ellipse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721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399032"/>
            <a:ext cx="4343400" cy="713232"/>
          </a:xfrm>
          <a:prstGeom prst="roundRect">
            <a:avLst/>
          </a:prstGeom>
          <a:solidFill>
            <a:srgbClr val="E8F1FC"/>
          </a:solidFill>
          <a:ln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490472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50">
                <a:solidFill>
                  <a:srgbClr val="153E6C"/>
                </a:solidFill>
              </a:defRPr>
            </a:pPr>
            <a:r>
              <a:t>Run dbt snapshot</a:t>
            </a:r>
          </a:p>
          <a:p>
            <a:pPr>
              <a:spcBef>
                <a:spcPts val="0"/>
              </a:spcBef>
              <a:defRPr sz="1200">
                <a:solidFill>
                  <a:srgbClr val="202731"/>
                </a:solidFill>
              </a:defRPr>
            </a:pPr>
            <a:r>
              <a:t>Create baseline snapshot rows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26580" y="1828800"/>
            <a:ext cx="0" cy="621791"/>
          </a:xfrm>
          <a:prstGeom prst="line">
            <a:avLst/>
          </a:prstGeom>
          <a:ln w="19050">
            <a:solidFill>
              <a:srgbClr val="B8C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720840" y="2514600"/>
            <a:ext cx="411480" cy="411480"/>
          </a:xfrm>
          <a:prstGeom prst="ellipse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56946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496312"/>
            <a:ext cx="4343400" cy="713232"/>
          </a:xfrm>
          <a:prstGeom prst="roundRect">
            <a:avLst/>
          </a:prstGeom>
          <a:solidFill>
            <a:srgbClr val="E8F1FC"/>
          </a:solidFill>
          <a:ln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587752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50">
                <a:solidFill>
                  <a:srgbClr val="153E6C"/>
                </a:solidFill>
              </a:defRPr>
            </a:pPr>
            <a:r>
              <a:t>Update one raw row</a:t>
            </a:r>
          </a:p>
          <a:p>
            <a:pPr>
              <a:spcBef>
                <a:spcPts val="0"/>
              </a:spcBef>
              <a:defRPr sz="1200">
                <a:solidFill>
                  <a:srgbClr val="202731"/>
                </a:solidFill>
              </a:defRPr>
            </a:pPr>
            <a:r>
              <a:t>Example: spent = spent + 1 for one record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26580" y="2926080"/>
            <a:ext cx="0" cy="621791"/>
          </a:xfrm>
          <a:prstGeom prst="line">
            <a:avLst/>
          </a:prstGeom>
          <a:ln w="19050">
            <a:solidFill>
              <a:srgbClr val="B8C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20840" y="3611880"/>
            <a:ext cx="411480" cy="411480"/>
          </a:xfrm>
          <a:prstGeom prst="ellipse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66674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3593592"/>
            <a:ext cx="4343400" cy="713232"/>
          </a:xfrm>
          <a:prstGeom prst="roundRect">
            <a:avLst/>
          </a:prstGeom>
          <a:solidFill>
            <a:srgbClr val="E8F1FC"/>
          </a:solidFill>
          <a:ln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685032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50">
                <a:solidFill>
                  <a:srgbClr val="153E6C"/>
                </a:solidFill>
              </a:defRPr>
            </a:pPr>
            <a:r>
              <a:t>Run dbt snapshot again</a:t>
            </a:r>
          </a:p>
          <a:p>
            <a:pPr>
              <a:spcBef>
                <a:spcPts val="0"/>
              </a:spcBef>
              <a:defRPr sz="1200">
                <a:solidFill>
                  <a:srgbClr val="202731"/>
                </a:solidFill>
              </a:defRPr>
            </a:pPr>
            <a:r>
              <a:t>dbt compares check_cols and closes old version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26580" y="4023360"/>
            <a:ext cx="0" cy="621791"/>
          </a:xfrm>
          <a:prstGeom prst="line">
            <a:avLst/>
          </a:prstGeom>
          <a:ln w="19050">
            <a:solidFill>
              <a:srgbClr val="B8C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720840" y="4709159"/>
            <a:ext cx="411480" cy="411480"/>
          </a:xfrm>
          <a:prstGeom prst="ellipse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764023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4690871"/>
            <a:ext cx="4343400" cy="713232"/>
          </a:xfrm>
          <a:prstGeom prst="roundRect">
            <a:avLst/>
          </a:prstGeom>
          <a:solidFill>
            <a:srgbClr val="E8F1FC"/>
          </a:solidFill>
          <a:ln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782311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50">
                <a:solidFill>
                  <a:srgbClr val="153E6C"/>
                </a:solidFill>
              </a:defRPr>
            </a:pPr>
            <a:r>
              <a:t>Query snapshot table</a:t>
            </a:r>
          </a:p>
          <a:p>
            <a:pPr>
              <a:spcBef>
                <a:spcPts val="0"/>
              </a:spcBef>
              <a:defRPr sz="1200">
                <a:solidFill>
                  <a:srgbClr val="202731"/>
                </a:solidFill>
              </a:defRPr>
            </a:pPr>
            <a:r>
              <a:t>See historical + current version (dbt_valid_to null on current)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/ Evidence to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166360" cy="205740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" y="1435608"/>
            <a:ext cx="164592" cy="164592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E6C"/>
                </a:solidFill>
              </a:defRPr>
            </a:pPr>
            <a:r>
              <a:t>Snowflake 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856232"/>
            <a:ext cx="45720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Show RAW / ANALYTICS / SNAPSHOTS schemas and target tables/views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166360" cy="205740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435608"/>
            <a:ext cx="164592" cy="1645920"/>
          </a:xfrm>
          <a:prstGeom prst="rect">
            <a:avLst/>
          </a:prstGeom>
          <a:solidFill>
            <a:srgbClr val="27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E6C"/>
                </a:solidFill>
              </a:defRPr>
            </a:pPr>
            <a:r>
              <a:t>dbt Run/Test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1856232"/>
            <a:ext cx="45720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Terminal screenshots of dbt run, dbt test, and dbt snapshot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5166360" cy="205740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" y="3767328"/>
            <a:ext cx="164592" cy="16459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7490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E6C"/>
                </a:solidFill>
              </a:defRPr>
            </a:pPr>
            <a:r>
              <a:t>Model Samples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187952"/>
            <a:ext cx="45720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Preview stg_ads, fct_ads_performance, mart_campaign_summary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166360" cy="2057400"/>
          </a:xfrm>
          <a:prstGeom prst="roundRect">
            <a:avLst/>
          </a:prstGeom>
          <a:solidFill>
            <a:srgbClr val="F3F5F7"/>
          </a:solidFill>
          <a:ln>
            <a:solidFill>
              <a:srgbClr val="E4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3767328"/>
            <a:ext cx="164592" cy="164592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37490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53E6C"/>
                </a:solidFill>
              </a:defRPr>
            </a:pPr>
            <a:r>
              <a:t>Snapshot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187952"/>
            <a:ext cx="45720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02731"/>
                </a:solidFill>
              </a:defRPr>
            </a:pPr>
            <a:r>
              <a:t>Query showing old row closed and new row active via dbt_valid_to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3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 /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38560" cy="1828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C7A"/>
                </a:solidFill>
              </a:defRPr>
            </a:pPr>
            <a:r>
              <a:t>Ads Analytics with dbt +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26C7A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349240" cy="4526280"/>
          </a:xfrm>
          <a:prstGeom prst="roundRect">
            <a:avLst/>
          </a:prstGeom>
          <a:solidFill>
            <a:srgbClr val="E8F1FC"/>
          </a:solidFill>
          <a:ln>
            <a:solidFill>
              <a:srgbClr val="D2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Technical upgrades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4983480" cy="4005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Incremental materialization for fct_ads_performance (merge + unique_key)</a:t>
            </a:r>
          </a:p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Source definitions + freshness checks in sources.yml</a:t>
            </a:r>
          </a:p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Additional marts: daily trend, age/gender, campaign ROI</a:t>
            </a:r>
          </a:p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CI/CD automation for dbt build/test</a:t>
            </a:r>
          </a:p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Connect BI tool to mart layer for dashboarding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349240" cy="4526280"/>
          </a:xfrm>
          <a:prstGeom prst="roundRect">
            <a:avLst/>
          </a:prstGeom>
          <a:solidFill>
            <a:srgbClr val="E8F1FC"/>
          </a:solidFill>
          <a:ln>
            <a:solidFill>
              <a:srgbClr val="D2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53E6C"/>
                </a:solidFill>
              </a:defRPr>
            </a:pPr>
            <a:r>
              <a:t>Why this project is valuable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18488"/>
            <a:ext cx="4983480" cy="4005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Demonstrates practical dbt fundamentals on real warehouse objects</a:t>
            </a:r>
          </a:p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Shows ability to model, test, document, and snapshot data</a:t>
            </a:r>
          </a:p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Good portfolio project for data engineering / analytics engineering interviews</a:t>
            </a:r>
          </a:p>
          <a:p>
            <a:pPr>
              <a:spcAft>
                <a:spcPts val="600"/>
              </a:spcAft>
              <a:defRPr sz="1550">
                <a:solidFill>
                  <a:srgbClr val="202731"/>
                </a:solidFill>
              </a:defRPr>
            </a:pPr>
            <a:r>
              <a:t>Easy to extend with more datasets and production 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>
                <a:solidFill>
                  <a:srgbClr val="626C7A"/>
                </a:solidFill>
              </a:defRPr>
            </a:pPr>
            <a:r>
              <a:t>Recommended demo order: dbt seed -&gt; dbt run -&gt; dbt test -&gt; dbt snapshot -&gt; Snowflake validation 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